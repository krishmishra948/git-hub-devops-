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74519"/>
            <a:ext cx="10058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182D4B"/>
                </a:solidFill>
              </a:defRPr>
            </a:pPr>
            <a:r>
              <a:t>DEVOPS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15468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5F6973"/>
                </a:solidFill>
              </a:defRPr>
            </a:pPr>
            <a:r>
              <a:t>Concepts • Metrics • Tools •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480060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A32"/>
                </a:solidFill>
              </a:defRPr>
            </a:pPr>
            <a:r>
              <a:t>DevOps Subject | Academic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2D4B"/>
                </a:solidFill>
              </a:defRPr>
            </a:pPr>
            <a:r>
              <a:t>What is DevOps Monitoring?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232A32"/>
                </a:solidFill>
              </a:defRPr>
            </a:pPr>
            <a:r>
              <a:t>Continuous observation of applications, servers, infrastructure and services.</a:t>
            </a:r>
          </a:p>
          <a:p>
            <a:pPr>
              <a:spcAft>
                <a:spcPts val="1200"/>
              </a:spcAft>
              <a:defRPr sz="2100" b="0">
                <a:solidFill>
                  <a:srgbClr val="232A32"/>
                </a:solidFill>
              </a:defRPr>
            </a:pPr>
            <a:r>
              <a:t>Collects metrics, logs and events to understand system health.</a:t>
            </a:r>
          </a:p>
          <a:p>
            <a:pPr>
              <a:spcAft>
                <a:spcPts val="1200"/>
              </a:spcAft>
              <a:defRPr sz="2100" b="0">
                <a:solidFill>
                  <a:srgbClr val="232A32"/>
                </a:solidFill>
              </a:defRPr>
            </a:pPr>
            <a:r>
              <a:t>Helps teams detect failures, performance issues and unusual behavior early.</a:t>
            </a:r>
          </a:p>
          <a:p>
            <a:pPr>
              <a:spcAft>
                <a:spcPts val="1200"/>
              </a:spcAft>
              <a:defRPr sz="2100" b="0">
                <a:solidFill>
                  <a:srgbClr val="232A32"/>
                </a:solidFill>
              </a:defRPr>
            </a:pPr>
            <a:r>
              <a:t>Monitoring supports faster troubleshooting and more reliable deployments.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8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620256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2D4B"/>
                </a:solidFill>
              </a:defRPr>
            </a:pPr>
            <a:r>
              <a:t>Why is Monitoring Important?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232A32"/>
                </a:solidFill>
              </a:defRPr>
            </a:pPr>
            <a:r>
              <a:t>Early Detection — identify failures before they become major incidents.</a:t>
            </a:r>
          </a:p>
          <a:p>
            <a:pPr>
              <a:spcAft>
                <a:spcPts val="1200"/>
              </a:spcAft>
              <a:defRPr sz="2100" b="0">
                <a:solidFill>
                  <a:srgbClr val="232A32"/>
                </a:solidFill>
              </a:defRPr>
            </a:pPr>
            <a:r>
              <a:t>Performance — track resource usage and application response.</a:t>
            </a:r>
          </a:p>
          <a:p>
            <a:pPr>
              <a:spcAft>
                <a:spcPts val="1200"/>
              </a:spcAft>
              <a:defRPr sz="2100" b="0">
                <a:solidFill>
                  <a:srgbClr val="232A32"/>
                </a:solidFill>
              </a:defRPr>
            </a:pPr>
            <a:r>
              <a:t>Availability — maintain reliable services and reduce downtime.</a:t>
            </a:r>
          </a:p>
          <a:p>
            <a:pPr>
              <a:spcAft>
                <a:spcPts val="1200"/>
              </a:spcAft>
              <a:defRPr sz="2100" b="0">
                <a:solidFill>
                  <a:srgbClr val="232A32"/>
                </a:solidFill>
              </a:defRPr>
            </a:pPr>
            <a:r>
              <a:t>Security &amp; Operations — surface abnormal activity and operational problems.</a:t>
            </a:r>
          </a:p>
          <a:p>
            <a:pPr>
              <a:spcAft>
                <a:spcPts val="1200"/>
              </a:spcAft>
              <a:defRPr sz="2100" b="0">
                <a:solidFill>
                  <a:srgbClr val="232A32"/>
                </a:solidFill>
              </a:defRPr>
            </a:pPr>
            <a:r>
              <a:t>Decision Making — use historical data to plan capacity and improvements.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8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620256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2D4B"/>
                </a:solidFill>
              </a:defRPr>
            </a:pPr>
            <a:r>
              <a:t>Types of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232A32"/>
                </a:solidFill>
              </a:defRPr>
            </a:pPr>
            <a:r>
              <a:t>Infrastructure Monitoring — CPU, memory, disk, network and server health.</a:t>
            </a:r>
          </a:p>
          <a:p>
            <a:pPr>
              <a:spcAft>
                <a:spcPts val="1200"/>
              </a:spcAft>
              <a:defRPr sz="2100" b="0">
                <a:solidFill>
                  <a:srgbClr val="232A32"/>
                </a:solidFill>
              </a:defRPr>
            </a:pPr>
            <a:r>
              <a:t>Application Monitoring — response time, errors, throughput and availability.</a:t>
            </a:r>
          </a:p>
          <a:p>
            <a:pPr>
              <a:spcAft>
                <a:spcPts val="1200"/>
              </a:spcAft>
              <a:defRPr sz="2100" b="0">
                <a:solidFill>
                  <a:srgbClr val="232A32"/>
                </a:solidFill>
              </a:defRPr>
            </a:pPr>
            <a:r>
              <a:t>Log Monitoring — collect, search and analyze application and system logs.</a:t>
            </a:r>
          </a:p>
          <a:p>
            <a:pPr>
              <a:spcAft>
                <a:spcPts val="1200"/>
              </a:spcAft>
              <a:defRPr sz="2100" b="0">
                <a:solidFill>
                  <a:srgbClr val="232A32"/>
                </a:solidFill>
              </a:defRPr>
            </a:pPr>
            <a:r>
              <a:t>Network Monitoring — latency, packet loss, traffic and connectivity.</a:t>
            </a:r>
          </a:p>
          <a:p>
            <a:pPr>
              <a:spcAft>
                <a:spcPts val="1200"/>
              </a:spcAft>
              <a:defRPr sz="2100" b="0">
                <a:solidFill>
                  <a:srgbClr val="232A32"/>
                </a:solidFill>
              </a:defRPr>
            </a:pPr>
            <a:r>
              <a:t>Database Monitoring — queries, connections, storage and performance.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8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620256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2D4B"/>
                </a:solidFill>
              </a:defRPr>
            </a:pPr>
            <a:r>
              <a:t>Key Monitoring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232A32"/>
                </a:solidFill>
              </a:defRPr>
            </a:pPr>
            <a:r>
              <a:t>CPU Utilization — indicates processor workload.</a:t>
            </a:r>
          </a:p>
          <a:p>
            <a:pPr>
              <a:spcAft>
                <a:spcPts val="1200"/>
              </a:spcAft>
              <a:defRPr sz="2100" b="0">
                <a:solidFill>
                  <a:srgbClr val="232A32"/>
                </a:solidFill>
              </a:defRPr>
            </a:pPr>
            <a:r>
              <a:t>Memory Usage — shows RAM consumption and possible memory pressure.</a:t>
            </a:r>
          </a:p>
          <a:p>
            <a:pPr>
              <a:spcAft>
                <a:spcPts val="1200"/>
              </a:spcAft>
              <a:defRPr sz="2100" b="0">
                <a:solidFill>
                  <a:srgbClr val="232A32"/>
                </a:solidFill>
              </a:defRPr>
            </a:pPr>
            <a:r>
              <a:t>Disk Usage — tracks storage capacity and I/O activity.</a:t>
            </a:r>
          </a:p>
          <a:p>
            <a:pPr>
              <a:spcAft>
                <a:spcPts val="1200"/>
              </a:spcAft>
              <a:defRPr sz="2100" b="0">
                <a:solidFill>
                  <a:srgbClr val="232A32"/>
                </a:solidFill>
              </a:defRPr>
            </a:pPr>
            <a:r>
              <a:t>Network Traffic — measures incoming and outgoing data.</a:t>
            </a:r>
          </a:p>
          <a:p>
            <a:pPr>
              <a:spcAft>
                <a:spcPts val="1200"/>
              </a:spcAft>
              <a:defRPr sz="2100" b="0">
                <a:solidFill>
                  <a:srgbClr val="232A32"/>
                </a:solidFill>
              </a:defRPr>
            </a:pPr>
            <a:r>
              <a:t>Latency — measures how long a request takes.</a:t>
            </a:r>
          </a:p>
          <a:p>
            <a:pPr>
              <a:spcAft>
                <a:spcPts val="1200"/>
              </a:spcAft>
              <a:defRPr sz="2100" b="0">
                <a:solidFill>
                  <a:srgbClr val="232A32"/>
                </a:solidFill>
              </a:defRPr>
            </a:pPr>
            <a:r>
              <a:t>Error Rate — shows the frequency of failed requests or operations.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8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620256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2D4B"/>
                </a:solidFill>
              </a:defRPr>
            </a:pPr>
            <a:r>
              <a:t>Popular Monitoring Tools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554480"/>
            <a:ext cx="4983480" cy="1554480"/>
          </a:xfrm>
          <a:prstGeom prst="roundRect">
            <a:avLst/>
          </a:prstGeom>
          <a:solidFill>
            <a:srgbClr val="F2F6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783080"/>
            <a:ext cx="4389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82D4B"/>
                </a:solidFill>
              </a:defRPr>
            </a:pPr>
            <a:r>
              <a:t>Prometheus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331720"/>
            <a:ext cx="4389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F6973"/>
                </a:solidFill>
              </a:defRPr>
            </a:pPr>
            <a:r>
              <a:t>Metrics collection and alerting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79" y="1554480"/>
            <a:ext cx="4983480" cy="1554480"/>
          </a:xfrm>
          <a:prstGeom prst="roundRect">
            <a:avLst/>
          </a:prstGeom>
          <a:solidFill>
            <a:srgbClr val="F2F6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29399" y="1783080"/>
            <a:ext cx="4389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82D4B"/>
                </a:solidFill>
              </a:defRPr>
            </a:pPr>
            <a:r>
              <a:t>Grafana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399" y="2331720"/>
            <a:ext cx="4389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F6973"/>
                </a:solidFill>
              </a:defRPr>
            </a:pPr>
            <a:r>
              <a:t>Dashboards and visualization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611880"/>
            <a:ext cx="4983480" cy="1554480"/>
          </a:xfrm>
          <a:prstGeom prst="roundRect">
            <a:avLst/>
          </a:prstGeom>
          <a:solidFill>
            <a:srgbClr val="F2F6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840480"/>
            <a:ext cx="4389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82D4B"/>
                </a:solidFill>
              </a:defRPr>
            </a:pPr>
            <a:r>
              <a:t>Nagios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389120"/>
            <a:ext cx="4389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F6973"/>
                </a:solidFill>
              </a:defRPr>
            </a:pPr>
            <a:r>
              <a:t>Infrastructure and service monitoring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79" y="3611880"/>
            <a:ext cx="4983480" cy="1554480"/>
          </a:xfrm>
          <a:prstGeom prst="roundRect">
            <a:avLst/>
          </a:prstGeom>
          <a:solidFill>
            <a:srgbClr val="F2F6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399" y="3840480"/>
            <a:ext cx="4389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82D4B"/>
                </a:solidFill>
              </a:defRPr>
            </a:pPr>
            <a:r>
              <a:t>ELK Stack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399" y="4389120"/>
            <a:ext cx="4389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F6973"/>
                </a:solidFill>
              </a:defRPr>
            </a:pPr>
            <a:r>
              <a:t>Log collection and analysis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8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0" y="6620256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2D4B"/>
                </a:solidFill>
              </a:defRPr>
            </a:pPr>
            <a:r>
              <a:t>Prometheus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232A32"/>
                </a:solidFill>
              </a:defRPr>
            </a:pPr>
            <a:r>
              <a:t>Open-source monitoring and alerting system.</a:t>
            </a:r>
          </a:p>
          <a:p>
            <a:pPr>
              <a:spcAft>
                <a:spcPts val="1200"/>
              </a:spcAft>
              <a:defRPr sz="2100" b="0">
                <a:solidFill>
                  <a:srgbClr val="232A32"/>
                </a:solidFill>
              </a:defRPr>
            </a:pPr>
            <a:r>
              <a:t>Stores metrics as time-series data.</a:t>
            </a:r>
          </a:p>
          <a:p>
            <a:pPr>
              <a:spcAft>
                <a:spcPts val="1200"/>
              </a:spcAft>
              <a:defRPr sz="2100" b="0">
                <a:solidFill>
                  <a:srgbClr val="232A32"/>
                </a:solidFill>
              </a:defRPr>
            </a:pPr>
            <a:r>
              <a:t>Uses PromQL to query and analyze metrics.</a:t>
            </a:r>
          </a:p>
          <a:p>
            <a:pPr>
              <a:spcAft>
                <a:spcPts val="1200"/>
              </a:spcAft>
              <a:defRPr sz="2100" b="0">
                <a:solidFill>
                  <a:srgbClr val="232A32"/>
                </a:solidFill>
              </a:defRPr>
            </a:pPr>
            <a:r>
              <a:t>Can collect metrics from applications and infrastructure through exporters.</a:t>
            </a:r>
          </a:p>
          <a:p>
            <a:pPr>
              <a:spcAft>
                <a:spcPts val="1200"/>
              </a:spcAft>
              <a:defRPr sz="2100" b="0">
                <a:solidFill>
                  <a:srgbClr val="232A32"/>
                </a:solidFill>
              </a:defRPr>
            </a:pPr>
            <a:r>
              <a:t>Often used as the metrics source for Grafana dashboards.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8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620256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2D4B"/>
                </a:solidFill>
              </a:defRPr>
            </a:pPr>
            <a:r>
              <a:t>Grafana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232A32"/>
                </a:solidFill>
              </a:defRPr>
            </a:pPr>
            <a:r>
              <a:t>Open-source platform for visualization and observability dashboards.</a:t>
            </a:r>
          </a:p>
          <a:p>
            <a:pPr>
              <a:spcAft>
                <a:spcPts val="1200"/>
              </a:spcAft>
              <a:defRPr sz="2100" b="0">
                <a:solidFill>
                  <a:srgbClr val="232A32"/>
                </a:solidFill>
              </a:defRPr>
            </a:pPr>
            <a:r>
              <a:t>Connects to data sources such as Prometheus.</a:t>
            </a:r>
          </a:p>
          <a:p>
            <a:pPr>
              <a:spcAft>
                <a:spcPts val="1200"/>
              </a:spcAft>
              <a:defRPr sz="2100" b="0">
                <a:solidFill>
                  <a:srgbClr val="232A32"/>
                </a:solidFill>
              </a:defRPr>
            </a:pPr>
            <a:r>
              <a:t>Displays metrics using graphs, tables, gauges and other panels.</a:t>
            </a:r>
          </a:p>
          <a:p>
            <a:pPr>
              <a:spcAft>
                <a:spcPts val="1200"/>
              </a:spcAft>
              <a:defRPr sz="2100" b="0">
                <a:solidFill>
                  <a:srgbClr val="232A32"/>
                </a:solidFill>
              </a:defRPr>
            </a:pPr>
            <a:r>
              <a:t>Helps teams quickly understand trends and system health.</a:t>
            </a:r>
          </a:p>
          <a:p>
            <a:pPr>
              <a:spcAft>
                <a:spcPts val="1200"/>
              </a:spcAft>
              <a:defRPr sz="2100" b="0">
                <a:solidFill>
                  <a:srgbClr val="232A32"/>
                </a:solidFill>
              </a:defRPr>
            </a:pPr>
            <a:r>
              <a:t>Dashboards can be organized for different applications or teams.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8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620256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2D4B"/>
                </a:solidFill>
              </a:defRPr>
            </a:pPr>
            <a:r>
              <a:t>Prometheus + Grafana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514600"/>
            <a:ext cx="150876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19" y="2743200"/>
            <a:ext cx="1325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82D4B"/>
                </a:solidFill>
              </a:defRPr>
            </a:pPr>
            <a:r>
              <a:t>Application /</a:t>
            </a:r>
            <a:br/>
            <a:r>
              <a:t>Server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240280" y="2816352"/>
            <a:ext cx="777240" cy="502920"/>
          </a:xfrm>
          <a:prstGeom prst="rightArrow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971800" y="2514600"/>
            <a:ext cx="150876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2743200"/>
            <a:ext cx="1325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82D4B"/>
                </a:solidFill>
              </a:defRPr>
            </a:pPr>
            <a:r>
              <a:t>Exporter /</a:t>
            </a:r>
            <a:br/>
            <a:r>
              <a:t>Metrics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572000" y="2816352"/>
            <a:ext cx="777240" cy="502920"/>
          </a:xfrm>
          <a:prstGeom prst="rightArrow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0" y="2514600"/>
            <a:ext cx="150876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0" y="2743200"/>
            <a:ext cx="1325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82D4B"/>
                </a:solidFill>
              </a:defRPr>
            </a:pPr>
            <a:r>
              <a:t>Prometheus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086600" y="2816352"/>
            <a:ext cx="777240" cy="502920"/>
          </a:xfrm>
          <a:prstGeom prst="rightArrow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01000" y="2514600"/>
            <a:ext cx="150876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743200"/>
            <a:ext cx="1325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82D4B"/>
                </a:solidFill>
              </a:defRPr>
            </a:pPr>
            <a:r>
              <a:t>Grafana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601200" y="2816352"/>
            <a:ext cx="777240" cy="502920"/>
          </a:xfrm>
          <a:prstGeom prst="rightArrow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058400" y="2514600"/>
            <a:ext cx="150876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49840" y="2743200"/>
            <a:ext cx="1325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82D4B"/>
                </a:solidFill>
              </a:defRPr>
            </a:pPr>
            <a:r>
              <a:t>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51960"/>
            <a:ext cx="10241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>
                <a:solidFill>
                  <a:srgbClr val="232A32"/>
                </a:solidFill>
              </a:defRPr>
            </a:pPr>
            <a:r>
              <a:t>Prometheus collects and stores metrics; Grafana queries those metrics and presents them as dashboards.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8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0" y="6620256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2D4B"/>
                </a:solidFill>
              </a:defRPr>
            </a:pPr>
            <a:r>
              <a:t>Monitoring in a DevOps / CI-CD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232A32"/>
                </a:solidFill>
              </a:defRPr>
            </a:pPr>
            <a:r>
              <a:t>Code → Build → Test → Deploy → Monitor → Feedback</a:t>
            </a:r>
          </a:p>
          <a:p>
            <a:pPr>
              <a:spcAft>
                <a:spcPts val="1200"/>
              </a:spcAft>
              <a:defRPr sz="2100" b="0">
                <a:solidFill>
                  <a:srgbClr val="232A32"/>
                </a:solidFill>
              </a:defRPr>
            </a:pPr>
            <a:r>
              <a:t>Monitoring continues after deployment instead of stopping at release.</a:t>
            </a:r>
          </a:p>
          <a:p>
            <a:pPr>
              <a:spcAft>
                <a:spcPts val="1200"/>
              </a:spcAft>
              <a:defRPr sz="2100" b="0">
                <a:solidFill>
                  <a:srgbClr val="232A32"/>
                </a:solidFill>
              </a:defRPr>
            </a:pPr>
            <a:r>
              <a:t>Alerts can notify teams when predefined thresholds or conditions are reached.</a:t>
            </a:r>
          </a:p>
          <a:p>
            <a:pPr>
              <a:spcAft>
                <a:spcPts val="1200"/>
              </a:spcAft>
              <a:defRPr sz="2100" b="0">
                <a:solidFill>
                  <a:srgbClr val="232A32"/>
                </a:solidFill>
              </a:defRPr>
            </a:pPr>
            <a:r>
              <a:t>Collected data helps teams improve future releases and infrastructure.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8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620256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2D4B"/>
                </a:solidFill>
              </a:defRPr>
            </a:pPr>
            <a:r>
              <a:t>Benefits and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512064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D4B"/>
                </a:solidFill>
              </a:defRPr>
            </a:pPr>
            <a:r>
              <a:t>Benefits</a:t>
            </a:r>
          </a:p>
          <a:p>
            <a:pPr>
              <a:spcAft>
                <a:spcPts val="1000"/>
              </a:spcAft>
              <a:defRPr sz="1900">
                <a:solidFill>
                  <a:srgbClr val="232A32"/>
                </a:solidFill>
              </a:defRPr>
            </a:pPr>
            <a:r>
              <a:t>• Reduced downtime</a:t>
            </a:r>
          </a:p>
          <a:p>
            <a:pPr>
              <a:spcAft>
                <a:spcPts val="1000"/>
              </a:spcAft>
              <a:defRPr sz="1900">
                <a:solidFill>
                  <a:srgbClr val="232A32"/>
                </a:solidFill>
              </a:defRPr>
            </a:pPr>
            <a:r>
              <a:t>• Faster troubleshooting</a:t>
            </a:r>
          </a:p>
          <a:p>
            <a:pPr>
              <a:spcAft>
                <a:spcPts val="1000"/>
              </a:spcAft>
              <a:defRPr sz="1900">
                <a:solidFill>
                  <a:srgbClr val="232A32"/>
                </a:solidFill>
              </a:defRPr>
            </a:pPr>
            <a:r>
              <a:t>• Better performance visibility</a:t>
            </a:r>
          </a:p>
          <a:p>
            <a:pPr>
              <a:spcAft>
                <a:spcPts val="1000"/>
              </a:spcAft>
              <a:defRPr sz="1900">
                <a:solidFill>
                  <a:srgbClr val="232A32"/>
                </a:solidFill>
              </a:defRPr>
            </a:pPr>
            <a:r>
              <a:t>• Improved reliability</a:t>
            </a:r>
          </a:p>
          <a:p>
            <a:pPr>
              <a:spcAft>
                <a:spcPts val="1000"/>
              </a:spcAft>
              <a:defRPr sz="1900">
                <a:solidFill>
                  <a:srgbClr val="232A32"/>
                </a:solidFill>
              </a:defRPr>
            </a:pPr>
            <a:r>
              <a:t>• Data-driven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554480"/>
            <a:ext cx="512064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D4B"/>
                </a:solidFill>
              </a:defRPr>
            </a:pPr>
            <a:r>
              <a:t>Challenges</a:t>
            </a:r>
          </a:p>
          <a:p>
            <a:pPr>
              <a:spcAft>
                <a:spcPts val="1000"/>
              </a:spcAft>
              <a:defRPr sz="1900">
                <a:solidFill>
                  <a:srgbClr val="232A32"/>
                </a:solidFill>
              </a:defRPr>
            </a:pPr>
            <a:r>
              <a:t>• Too many alerts</a:t>
            </a:r>
          </a:p>
          <a:p>
            <a:pPr>
              <a:spcAft>
                <a:spcPts val="1000"/>
              </a:spcAft>
              <a:defRPr sz="1900">
                <a:solidFill>
                  <a:srgbClr val="232A32"/>
                </a:solidFill>
              </a:defRPr>
            </a:pPr>
            <a:r>
              <a:t>• Large volumes of data</a:t>
            </a:r>
          </a:p>
          <a:p>
            <a:pPr>
              <a:spcAft>
                <a:spcPts val="1000"/>
              </a:spcAft>
              <a:defRPr sz="1900">
                <a:solidFill>
                  <a:srgbClr val="232A32"/>
                </a:solidFill>
              </a:defRPr>
            </a:pPr>
            <a:r>
              <a:t>• Tool configuration</a:t>
            </a:r>
          </a:p>
          <a:p>
            <a:pPr>
              <a:spcAft>
                <a:spcPts val="1000"/>
              </a:spcAft>
              <a:defRPr sz="1900">
                <a:solidFill>
                  <a:srgbClr val="232A32"/>
                </a:solidFill>
              </a:defRPr>
            </a:pPr>
            <a:r>
              <a:t>• Storage and retention</a:t>
            </a:r>
          </a:p>
          <a:p>
            <a:pPr>
              <a:spcAft>
                <a:spcPts val="1000"/>
              </a:spcAft>
              <a:defRPr sz="1900">
                <a:solidFill>
                  <a:srgbClr val="232A32"/>
                </a:solidFill>
              </a:defRPr>
            </a:pPr>
            <a:r>
              <a:t>• Monitoring overhead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8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620256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82D4B"/>
                </a:solidFill>
              </a:defRPr>
            </a:pPr>
            <a:r>
              <a:t>PRESENTED BY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48840" y="1508760"/>
            <a:ext cx="790956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0" y="1828800"/>
            <a:ext cx="7086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  <a:defRPr sz="2400">
                <a:solidFill>
                  <a:srgbClr val="232A32"/>
                </a:solidFill>
              </a:defRPr>
            </a:pPr>
            <a:r>
              <a:t>Kartikay Khandelwal</a:t>
            </a:r>
          </a:p>
          <a:p>
            <a:pPr algn="ctr">
              <a:spcAft>
                <a:spcPts val="1800"/>
              </a:spcAft>
              <a:defRPr sz="2400">
                <a:solidFill>
                  <a:srgbClr val="232A32"/>
                </a:solidFill>
              </a:defRPr>
            </a:pPr>
            <a:r>
              <a:t>Jainish Jain</a:t>
            </a:r>
          </a:p>
          <a:p>
            <a:pPr algn="ctr">
              <a:spcAft>
                <a:spcPts val="1800"/>
              </a:spcAft>
              <a:defRPr sz="2400">
                <a:solidFill>
                  <a:srgbClr val="232A32"/>
                </a:solidFill>
              </a:defRPr>
            </a:pPr>
            <a:r>
              <a:t>Karunal Pareek</a:t>
            </a:r>
          </a:p>
          <a:p>
            <a:pPr algn="ctr">
              <a:spcAft>
                <a:spcPts val="1800"/>
              </a:spcAft>
              <a:defRPr sz="2400">
                <a:solidFill>
                  <a:srgbClr val="232A32"/>
                </a:solidFill>
              </a:defRPr>
            </a:pPr>
            <a:r>
              <a:t>Krish Mishra</a:t>
            </a:r>
          </a:p>
          <a:p>
            <a:pPr algn="ctr">
              <a:spcAft>
                <a:spcPts val="1800"/>
              </a:spcAft>
              <a:defRPr sz="2400">
                <a:solidFill>
                  <a:srgbClr val="232A32"/>
                </a:solidFill>
              </a:defRPr>
            </a:pPr>
            <a:r>
              <a:t>Lakshay Chanwaria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8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82D4B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383280"/>
            <a:ext cx="8503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>
                <a:solidFill>
                  <a:srgbClr val="5F6973"/>
                </a:solidFill>
              </a:defRPr>
            </a:pPr>
            <a:r>
              <a:t>Questions &amp;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8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